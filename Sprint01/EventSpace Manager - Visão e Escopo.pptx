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87" y="2070794"/>
            <a:ext cx="3248025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367956"/>
            <a:ext cx="8839200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86125" y="4606081"/>
            <a:ext cx="16287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Inter"/>
              </a:rPr>
              <a:t>Metodologia Ágil Scrum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81625" y="4606081"/>
            <a:ext cx="164782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Inter"/>
              </a:rPr>
              <a:t>Atualização: 04/09/2026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4275" y="4606081"/>
            <a:ext cx="16287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Inter"/>
              </a:rPr>
              <a:t>Nicho: Festas &amp; Eventos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4625131"/>
            <a:ext cx="1809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4625131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150" y="4625131"/>
            <a:ext cx="16192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85011" y="2594669"/>
            <a:ext cx="5821977" cy="60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 dirty="0" err="1">
                <a:solidFill>
                  <a:srgbClr val="FFFFFF"/>
                </a:solidFill>
                <a:latin typeface="Plus Jakarta Sans"/>
              </a:rPr>
              <a:t>EventSpace</a:t>
            </a:r>
            <a:r>
              <a:rPr sz="4350" b="1" i="0" u="none" dirty="0">
                <a:solidFill>
                  <a:srgbClr val="FFFFFF"/>
                </a:solidFill>
                <a:latin typeface="Plus Jakarta Sans"/>
              </a:rPr>
              <a:t>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875" y="3354734"/>
            <a:ext cx="809625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Sistema de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Gestão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Agendamento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Espaços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Eventos</a:t>
            </a:r>
            <a:endParaRPr sz="165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62512" y="2338387"/>
            <a:ext cx="24669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4F46E5"/>
                </a:solidFill>
                <a:latin typeface="Inter"/>
              </a:rPr>
              <a:t>ORGANIZAÇÃO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9724" y="2633662"/>
            <a:ext cx="547240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Equipe e Papéis Scrum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6943"/>
            <a:ext cx="2590800" cy="3062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216943"/>
            <a:ext cx="2590800" cy="3062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216943"/>
            <a:ext cx="2590800" cy="30622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216943"/>
            <a:ext cx="2590800" cy="30622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531268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217068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Kellyson Souza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50443"/>
            <a:ext cx="2114550" cy="419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Responsável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pelo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direcionamento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do </a:t>
            </a:r>
            <a:r>
              <a:rPr lang="pt-BR" sz="1125" b="0" i="0" u="none" dirty="0">
                <a:solidFill>
                  <a:srgbClr val="64748B"/>
                </a:solidFill>
                <a:latin typeface="Inter"/>
              </a:rPr>
              <a:t>Sistema</a:t>
            </a:r>
            <a:r>
              <a:rPr lang="pt-BR" sz="1125" dirty="0">
                <a:solidFill>
                  <a:srgbClr val="64748B"/>
                </a:solidFill>
                <a:latin typeface="Inter"/>
              </a:rPr>
              <a:t>;</a:t>
            </a:r>
            <a:endParaRPr lang="pt-BR"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736306"/>
            <a:ext cx="11334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25" y="2531268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9025" y="3217068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César Augusto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550443"/>
            <a:ext cx="211455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Garantidor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da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metodologia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Scrum</a:t>
            </a:r>
            <a:r>
              <a:rPr lang="pt-BR" sz="1125" dirty="0">
                <a:solidFill>
                  <a:srgbClr val="64748B"/>
                </a:solidFill>
                <a:latin typeface="Inter"/>
              </a:rPr>
              <a:t>;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9025" y="4736306"/>
            <a:ext cx="10668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531268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8425" y="3217068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Pedro Henrique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550443"/>
            <a:ext cx="2114550" cy="419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pt-BR" sz="1125" b="0" i="0" u="none" dirty="0">
                <a:solidFill>
                  <a:srgbClr val="64748B"/>
                </a:solidFill>
                <a:latin typeface="Inter"/>
              </a:rPr>
              <a:t>Banco de dados;</a:t>
            </a:r>
          </a:p>
          <a:p>
            <a:pPr algn="l">
              <a:lnSpc>
                <a:spcPts val="1687"/>
              </a:lnSpc>
            </a:pPr>
            <a:r>
              <a:rPr lang="pt-BR" sz="1125" b="0" i="0" u="none" dirty="0">
                <a:solidFill>
                  <a:srgbClr val="64748B"/>
                </a:solidFill>
                <a:latin typeface="Inter"/>
              </a:rPr>
              <a:t>Back-</a:t>
            </a:r>
            <a:r>
              <a:rPr lang="pt-BR" sz="1125" b="0" i="0" u="none" dirty="0" err="1">
                <a:solidFill>
                  <a:srgbClr val="64748B"/>
                </a:solidFill>
                <a:latin typeface="Inter"/>
              </a:rPr>
              <a:t>end</a:t>
            </a:r>
            <a:r>
              <a:rPr lang="pt-BR" sz="1125" b="0" i="0" u="none" dirty="0">
                <a:solidFill>
                  <a:srgbClr val="64748B"/>
                </a:solidFill>
                <a:latin typeface="Inter"/>
              </a:rPr>
              <a:t>;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4521993"/>
            <a:ext cx="11430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7825" y="2531268"/>
            <a:ext cx="495300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67825" y="3217068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Pedro Lucas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825" y="3550443"/>
            <a:ext cx="211455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pt-BR" sz="1125" b="0" i="0" u="none" dirty="0">
                <a:solidFill>
                  <a:srgbClr val="64748B"/>
                </a:solidFill>
                <a:latin typeface="Inter"/>
              </a:rPr>
              <a:t>Fronte e Back-</a:t>
            </a:r>
            <a:r>
              <a:rPr lang="pt-BR" sz="1125" b="0" i="0" u="none" dirty="0" err="1">
                <a:solidFill>
                  <a:srgbClr val="64748B"/>
                </a:solidFill>
                <a:latin typeface="Inter"/>
              </a:rPr>
              <a:t>end</a:t>
            </a:r>
            <a:r>
              <a:rPr lang="pt-BR" sz="1125" b="0" i="0" u="none" dirty="0">
                <a:solidFill>
                  <a:srgbClr val="64748B"/>
                </a:solidFill>
                <a:latin typeface="Inter"/>
              </a:rPr>
              <a:t>;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7825" y="4736306"/>
            <a:ext cx="11430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262" y="2664618"/>
            <a:ext cx="20002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62375" y="2664618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664618"/>
            <a:ext cx="28575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72600" y="2664618"/>
            <a:ext cx="28575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Integrantes do Projeto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91125" y="2338387"/>
            <a:ext cx="1809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4F46E5"/>
                </a:solidFill>
                <a:latin typeface="Inter"/>
              </a:rPr>
              <a:t>DESAFIOS DO NICHO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9696" y="2633662"/>
            <a:ext cx="591245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O Problema de Mercado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7601"/>
            <a:ext cx="5334000" cy="20609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7601"/>
            <a:ext cx="5334000" cy="206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3070026"/>
            <a:ext cx="454056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Plus Jakarta Sans"/>
              </a:rPr>
              <a:t>Conflito Operacional e Falha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51026"/>
            <a:ext cx="46291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 forte dependência de agendamentos manuais e troca de mensagens informais via aplicativos resulta em constantes erros operacionais, como sobreposição de datas e reservas duplicadas no mesmo espaço.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3725" y="3070026"/>
            <a:ext cx="454056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Plus Jakarta Sans"/>
              </a:rPr>
              <a:t>Impacto Social e Insegurança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451026"/>
            <a:ext cx="46291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 falta de transparência sobre preços e disponibilidade real gera assimetria de informação. Pequenos contratantes e famílias enfrentam insegurança contratual e barreiras financeiras na hora de planejar seus eventos.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09860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3098601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Gargalos e Assimetria de Informação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383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05087"/>
            <a:ext cx="4991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Gestores e Proprietários: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Donos de salões de festas, sítios e casas de eventos que buscam eliminar erros na agenda e profissionalizar a gestão.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43287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Organizadores de Eventos: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Buffet, cerimonialistas e planejadores que demandam previsibilidade e rapidez na consulta de datas livres.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52887"/>
            <a:ext cx="4991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Clientes Finais e Famílias: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Contratantes que exigem clareza nos valores, regras de uso transparentes e reserva garantida sem surpresas.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47862"/>
            <a:ext cx="531495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28900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6710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76700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Público-Alvo e Alcance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Plataforma EventSpace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630983"/>
            <a:ext cx="55506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4F46E5"/>
                </a:solidFill>
                <a:latin typeface="Plus Jakarta Sans"/>
              </a:rPr>
              <a:t>Automação e Controle Unificado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97708"/>
            <a:ext cx="52863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 EventSpace Manager é uma plataforma web responsiva criada para automatizar todo o fluxo de reservas e eliminar o risco de sobreposição de horários.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81450"/>
            <a:ext cx="52863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Proporciona uma visualização analítica do desempenho financeiro dos espaços, centralizando o cadastro de clientes, regras e pacotes em uma experiência fluida e transparente.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2706"/>
            <a:ext cx="3530649" cy="2290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02706"/>
            <a:ext cx="3530649" cy="2290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02706"/>
            <a:ext cx="3530649" cy="22907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17031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602831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Sem Conflitos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36206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Algoritmo automatizado que impede duplicidade de reservas em uma mesma data ou horário com validação instantânea.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17031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602831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Métricas Financeiras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36206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Painel intuitivo com acompanhamento de faturamento mensal, taxa de ocupação e histórico de atendimentos.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917031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602831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Transparência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36206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Cadastro unificado de clientes, pacotes e regras de uso, permitindo consulta simples e transparente da agenda.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3050381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224" y="3050381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7186" y="3050381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Principais Benefícios da Solução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48212" y="2338387"/>
            <a:ext cx="2695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4F46E5"/>
                </a:solidFill>
                <a:latin typeface="Inter"/>
              </a:rPr>
              <a:t>PLANEJAMENTO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4714" y="2633662"/>
            <a:ext cx="562242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Delimitação do Escopo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1930"/>
            <a:ext cx="5334000" cy="27923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51930"/>
            <a:ext cx="5334000" cy="2792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710747"/>
            <a:ext cx="454056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 dirty="0" err="1">
                <a:solidFill>
                  <a:srgbClr val="4F46E5"/>
                </a:solidFill>
                <a:latin typeface="Plus Jakarta Sans"/>
              </a:rPr>
              <a:t>Dentro</a:t>
            </a:r>
            <a:r>
              <a:rPr sz="1650" b="1" i="0" u="none" dirty="0">
                <a:solidFill>
                  <a:srgbClr val="4F46E5"/>
                </a:solidFill>
                <a:latin typeface="Plus Jakarta Sans"/>
              </a:rPr>
              <a:t> do </a:t>
            </a:r>
            <a:r>
              <a:rPr sz="1650" b="1" i="0" u="none" dirty="0" err="1">
                <a:solidFill>
                  <a:srgbClr val="4F46E5"/>
                </a:solidFill>
                <a:latin typeface="Plus Jakarta Sans"/>
              </a:rPr>
              <a:t>Escopo</a:t>
            </a:r>
            <a:r>
              <a:rPr sz="1650" b="1" i="0" u="none" dirty="0">
                <a:solidFill>
                  <a:srgbClr val="4F46E5"/>
                </a:solidFill>
                <a:latin typeface="Plus Jakarta Sans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85355"/>
            <a:ext cx="4629150" cy="1706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• Autenticação JWT: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Cadastro e login seguro para Admin e Cliente.</a:t>
            </a:r>
            <a:r>
              <a:t>
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• Gestão de Serviços: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Espaços, regras e pacotes.</a:t>
            </a:r>
            <a:r>
              <a:t>
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• Agendamento Core: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Calendário interativo com validação anti-conflito.</a:t>
            </a:r>
            <a:r>
              <a:t>
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• Painel Inicial: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Indicadores de ocupação e faturamento estimado.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3725" y="2710747"/>
            <a:ext cx="454056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 dirty="0">
                <a:solidFill>
                  <a:srgbClr val="4F46E5"/>
                </a:solidFill>
                <a:latin typeface="Plus Jakarta Sans"/>
              </a:rPr>
              <a:t>Fora do </a:t>
            </a:r>
            <a:r>
              <a:rPr sz="1650" b="1" i="0" u="none" dirty="0" err="1">
                <a:solidFill>
                  <a:srgbClr val="4F46E5"/>
                </a:solidFill>
                <a:latin typeface="Plus Jakarta Sans"/>
              </a:rPr>
              <a:t>Escopo</a:t>
            </a:r>
            <a:r>
              <a:rPr sz="1650" b="1" i="0" u="none" dirty="0">
                <a:solidFill>
                  <a:srgbClr val="4F46E5"/>
                </a:solidFill>
                <a:latin typeface="Plus Jakarta San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085355"/>
            <a:ext cx="462915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• Pagamento Online Direto: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PIX ou Cartão via API (no MVP o registro é manual).</a:t>
            </a:r>
            <a:r>
              <a:t>
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• Contrato Digital: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Geração e assinatura eletrônica em PDF.</a:t>
            </a:r>
            <a:r>
              <a:t>
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• Terceiros &amp; Notificações: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Módulo de fornecedores (buffet) e lembretes via SMS/WhatsApp.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3293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3293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Visão do MVP vs Lançamentos Futuros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997422"/>
          <a:ext cx="11029949" cy="3501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53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Módulo / Funcionalidade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Descrição da Capacidade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Status do Escopo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Gestão de Usuários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Login, cadastro e autenticação JWT para Administrador e 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 MVP (In Scope)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Agendamento 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Calendário interativo com validação automática anti-conflito de datas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 MVP (In Scope)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5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Painel Inicial (Dashboard)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Indicadores de ocupação, faturamento estimado e histórico de reservas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 MVP (In Scope)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5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Pagamento Online Direct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Integração de pagamentos via PIX/Cartão por API (Registro inicial manual)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 Versão Futura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5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Assinatura Eletrônica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Geração automatizada e assinatura de contratos digitais em 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 Versão Futura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134617"/>
            <a:ext cx="2620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1739" y="3134617"/>
            <a:ext cx="6426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28137" y="3134617"/>
            <a:ext cx="1982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723233"/>
            <a:ext cx="2620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1739" y="3723233"/>
            <a:ext cx="6426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28137" y="3723233"/>
            <a:ext cx="1982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311848"/>
            <a:ext cx="2620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1739" y="4311848"/>
            <a:ext cx="6426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28137" y="4311848"/>
            <a:ext cx="1982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900463"/>
            <a:ext cx="2620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1739" y="4900463"/>
            <a:ext cx="6426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28137" y="4900463"/>
            <a:ext cx="1982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637" y="2707927"/>
            <a:ext cx="1276350" cy="27429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637" y="3296542"/>
            <a:ext cx="1276350" cy="2742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637" y="3885158"/>
            <a:ext cx="1276350" cy="27429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8637" y="4473773"/>
            <a:ext cx="1200150" cy="27429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8637" y="5062388"/>
            <a:ext cx="1200150" cy="27429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3456" y="4539555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6054" y="3960316"/>
            <a:ext cx="10477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4995" y="3371701"/>
            <a:ext cx="1047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2981" y="2773938"/>
            <a:ext cx="1047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2981" y="5137546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Matriz de Escopo do Projeto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76250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466850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Perguntas e Respostas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86000"/>
            <a:ext cx="1104900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Obrigado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 pela </a:t>
            </a: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atenção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!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2925960"/>
            <a:ext cx="4533900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87" y="685800"/>
            <a:ext cx="4286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05275" y="3049785"/>
            <a:ext cx="1685925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Inter Medium"/>
              </a:rPr>
              <a:t>EventSpace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1700" y="3049785"/>
            <a:ext cx="47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Inter Medium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9825" y="3049785"/>
            <a:ext cx="1866900" cy="1809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Inter Medium"/>
              </a:rPr>
              <a:t>Engenharia de Software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275" y="3068835"/>
            <a:ext cx="1619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25" y="3068835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68079"/>
            <a:ext cx="91344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743325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743325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1750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10954"/>
            <a:ext cx="80391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https://img.peerspace.com/image/upload/f_auto,q_auto,dpr_auto,w_3840/k6oombybzomu56trbnqq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56669"/>
            <a:ext cx="8039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www.peerspace.com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02273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895725"/>
            <a:ext cx="80391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https://assets.asana.biz/m/f054bf76a3dfc0b/original/productui-helpcenter-team_leads-planningwithasanacalendar-001-en-us-jpeg.jpeg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41440"/>
            <a:ext cx="8039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help.asana.com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628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Plus Jakarta Sans</vt:lpstr>
      <vt:lpstr>Plus Jakarta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 Lucas</dc:creator>
  <cp:keywords/>
  <dc:description>generated using python-pptx</dc:description>
  <cp:lastModifiedBy>Pedro Lucas Amaral Nunes</cp:lastModifiedBy>
  <cp:revision>3</cp:revision>
  <dcterms:created xsi:type="dcterms:W3CDTF">2013-01-27T09:14:16Z</dcterms:created>
  <dcterms:modified xsi:type="dcterms:W3CDTF">2026-09-04T12:11:50Z</dcterms:modified>
  <cp:category/>
</cp:coreProperties>
</file>